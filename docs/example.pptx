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B73815-2DCA-4F30-AB96-D381724C77BE}">
  <a:tblStyle styleId="{4EB73815-2DCA-4F30-AB96-D381724C7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814cf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814cf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23630543_5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236305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e965474a9_3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e965474a9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cb9a0b074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cb9a0b074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b9a0b07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b9a0b07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e965474a9_3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e965474a9_3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b9a0b0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b9a0b0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e965474a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e965474a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b9a0b074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cb9a0b074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://googletranslate.blogspot.com/2015/10/futbol-translated.html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theguardian.com/news/datablog/2014/sep/26/europeans-multiple-languages-uk-ireland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hyperlink" Target="http://travel.trade.gov/view/m-2015-O-001/index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hyperlink" Target="https://translate.google.com/community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://heathbrothers.com/presentations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Presentations That Stick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guide by Chip Heath &amp; Dan Heath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Selling your idea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Created in partnership with Chip and Dan Heath, authors of the bestselling book Made To Stick, this template advises users on how to build and deliver a memorable presentation of a new product, service, or idea.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Book titled, &quot;Made To Stick,&quot; standing on its side"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776" y="2804500"/>
            <a:ext cx="1572275" cy="20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6" name="Google Shape;86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1. Intro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Choose one approach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to grab the audience’s attention right from the start: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unexpected, emotional, or simple.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Unexpected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Highlight what’s new, unusual, 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surprising.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Emotional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Give people a reason to care.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Simple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Provide a simple unifying message for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 to come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languages do </a:t>
            </a:r>
            <a:br>
              <a:rPr lang="en"/>
            </a:br>
            <a:r>
              <a:rPr lang="en"/>
              <a:t>you need to know to </a:t>
            </a:r>
            <a:r>
              <a:rPr lang="en">
                <a:solidFill>
                  <a:schemeClr val="accent5"/>
                </a:solidFill>
              </a:rPr>
              <a:t>communicate with 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5"/>
                </a:solidFill>
              </a:rPr>
              <a:t>the rest of the world?</a:t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95" name="Google Shape;9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96" name="Google Shape;96;p16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In this example, we’re leading off with something </a:t>
              </a:r>
              <a:r>
                <a:rPr b="1"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unexpected.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While the audience is trying to come up with a number, we’ll surprise them with the next slide.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Just one!</a:t>
            </a:r>
            <a:r>
              <a:rPr lang="en"/>
              <a:t> Your own.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(With a little help from your smart phone)</a:t>
            </a:r>
            <a:endParaRPr b="0" sz="2400"/>
          </a:p>
        </p:txBody>
      </p:sp>
      <p:grpSp>
        <p:nvGrpSpPr>
          <p:cNvPr id="103" name="Google Shape;103;p17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04" name="Google Shape;104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05" name="Google Shape;105;p17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Remember. If something sounds like common sense, people will ignore it.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Highlight what is unexpected about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your topic.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The Google Translate app can repeat anything you say in up to </a:t>
            </a:r>
            <a:r>
              <a:rPr lang="en"/>
              <a:t>NINETY LANGUAGES</a:t>
            </a:r>
            <a:r>
              <a:rPr lang="en" sz="2400"/>
              <a:t> </a:t>
            </a:r>
            <a:r>
              <a:rPr b="0" lang="en" sz="2400">
                <a:solidFill>
                  <a:schemeClr val="dk2"/>
                </a:solidFill>
              </a:rPr>
              <a:t>from German and Japanese  to Czech and Zulu</a:t>
            </a:r>
            <a:endParaRPr b="0" sz="2400">
              <a:solidFill>
                <a:schemeClr val="dk2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39661" t="0"/>
          <a:stretch/>
        </p:blipFill>
        <p:spPr>
          <a:xfrm>
            <a:off x="4488725" y="0"/>
            <a:ext cx="465527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14" name="Google Shape;11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15" name="Google Shape;115;p18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Don’t wait till the end of the presentation to give the bottom line.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Reveal your product or idea (in this case a translation app) up front.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2" name="Google Shape;122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2. Examples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By the end of this section, your audience should be able to visualize: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 is the pain you cure with your solution?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Who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Show them a specific person who would benefit from your solution.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6.25 PM.png"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26144" r="26149" t="0"/>
          <a:stretch/>
        </p:blipFill>
        <p:spPr>
          <a:xfrm>
            <a:off x="-1" y="0"/>
            <a:ext cx="45672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Meet Alberto.</a:t>
            </a:r>
            <a:r>
              <a:rPr lang="en" sz="3000">
                <a:solidFill>
                  <a:schemeClr val="dk1"/>
                </a:solidFill>
              </a:rPr>
              <a:t>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He recently moved from Spain to a small town in Northern Ireland.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/>
              <a:t>He loved soccer, but feared he had no way to talk to a coach or teammates. 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31" name="Google Shape;131;p20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132" name="Google Shape;13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33" name="Google Shape;133;p20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0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Tell the audience about the problem through a </a:t>
              </a:r>
              <a:r>
                <a:rPr b="1"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story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, ideally a person. 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265500" y="653700"/>
            <a:ext cx="4045200" cy="38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Meet Marcos.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He recently opened a camera shop near the Louvre in Paris.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Visitors to his store, mostly tourists, speak many different languages making anything beyond a simple transaction a challenge.</a:t>
            </a:r>
            <a:endParaRPr sz="1800"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20863" l="1730" r="0" t="6747"/>
          <a:stretch/>
        </p:blipFill>
        <p:spPr>
          <a:xfrm>
            <a:off x="4488725" y="0"/>
            <a:ext cx="4655272" cy="51435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21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42" name="Google Shape;14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43" name="Google Shape;143;p21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21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If one example isn’t sufficient to help people understand the breadth of your idea, pick a couple of examples.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45" name="Google Shape;145;p21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Story for illustration purposes only</a:t>
            </a:r>
            <a:endParaRPr i="1" sz="12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translation barrier left Alberto feeling lonely and hurt Marco’s business.</a:t>
            </a: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53" name="Google Shape;15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54" name="Google Shape;154;p22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2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Ideally, speak of people in very different situations, but where each could benefit from your solution.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15074" l="0" r="0" t="0"/>
          <a:stretch/>
        </p:blipFill>
        <p:spPr>
          <a:xfrm>
            <a:off x="0" y="0"/>
            <a:ext cx="9143997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/>
          <p:nvPr/>
        </p:nvSpPr>
        <p:spPr>
          <a:xfrm>
            <a:off x="283000" y="297900"/>
            <a:ext cx="4547700" cy="4547700"/>
          </a:xfrm>
          <a:prstGeom prst="rect">
            <a:avLst/>
          </a:prstGeom>
          <a:solidFill>
            <a:srgbClr val="000000">
              <a:alpha val="76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 txBox="1"/>
          <p:nvPr>
            <p:ph idx="4294967295" type="body"/>
          </p:nvPr>
        </p:nvSpPr>
        <p:spPr>
          <a:xfrm>
            <a:off x="481300" y="529650"/>
            <a:ext cx="4151100" cy="4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</a:rPr>
              <a:t>Then, Marcos discovered Google Translate</a:t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 has his visiting customers speak their camera issues into the app.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</a:rPr>
              <a:t>He’s able to give them a friendly,  personalized experience by understanding exactly what they need.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19 at 11.48.18 PM.pn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26321" r="26321" t="0"/>
          <a:stretch/>
        </p:blipFill>
        <p:spPr>
          <a:xfrm>
            <a:off x="0" y="0"/>
            <a:ext cx="45672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A simple gesture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Coaches Gary and Glen knew no Spanish. 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They used Google Translate to invite Alberto to join in</a:t>
            </a:r>
            <a:r>
              <a:rPr lang="en" sz="1800"/>
              <a:t>...</a:t>
            </a:r>
            <a:r>
              <a:rPr lang="en" sz="1800">
                <a:solidFill>
                  <a:srgbClr val="000000"/>
                </a:solidFill>
              </a:rPr>
              <a:t> “Do you want to play?”... “Can you defend the left side?”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169" name="Google Shape;169;p24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170" name="Google Shape;17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71" name="Google Shape;171;p24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4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Show how your solution helps the person in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the story reach his or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her goals.</a:t>
              </a:r>
              <a:endParaRPr b="1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 b="5330" l="0" r="11111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5"/>
                </a:solidFill>
              </a:rPr>
              <a:t>From outsider to star</a:t>
            </a:r>
            <a:endParaRPr sz="4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100"/>
              <a:t>Alberto scored 30 goals in 21 games.  He is now being scouted by several professional clubs in the Premier League.  And he’s a favorite of the other boys on the team.</a:t>
            </a:r>
            <a:endParaRPr b="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16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a short video on Alberto’s story</a:t>
            </a:r>
            <a:endParaRPr sz="2400" u="sng">
              <a:solidFill>
                <a:schemeClr val="accent5"/>
              </a:solidFill>
            </a:endParaRPr>
          </a:p>
        </p:txBody>
      </p:sp>
      <p:grpSp>
        <p:nvGrpSpPr>
          <p:cNvPr id="179" name="Google Shape;179;p25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80" name="Google Shape;180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81" name="Google Shape;181;p25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5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Stories become more credible when they use concrete details such as the specific complex moves Alberto learned through Translate and his 30 goals in 21 games performance stats.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8" name="Google Shape;188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3. Examples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6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People need to understand how rare or frequent your examples are.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Pick 1 or 2 statistics and make them as concrete as possible. Stats are generally not sticky, but here are a few tactics: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Relate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Deliver data within the context of a story you’ve already told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Make big numbers digestible by putting them in the context of something familiar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/>
              <a:t>It’s no surprise Marcos uses Google Translate in his shop regularly.</a:t>
            </a:r>
            <a:endParaRPr b="0" sz="2300"/>
          </a:p>
          <a:p>
            <a:pPr indent="0" lvl="0" marL="0" rtl="0" algn="l">
              <a:spcBef>
                <a:spcPts val="1600"/>
              </a:spcBef>
              <a:spcAft>
                <a:spcPts val="1000"/>
              </a:spcAft>
              <a:buNone/>
            </a:pPr>
            <a:r>
              <a:rPr lang="en"/>
              <a:t>There are </a:t>
            </a:r>
            <a:r>
              <a:rPr lang="en">
                <a:solidFill>
                  <a:schemeClr val="accent5"/>
                </a:solidFill>
              </a:rPr>
              <a:t>23 officially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accent5"/>
                </a:solidFill>
              </a:rPr>
              <a:t>recognized languages</a:t>
            </a:r>
            <a:r>
              <a:rPr lang="en"/>
              <a:t> in the EU.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2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theguardian.com</a:t>
            </a:r>
            <a:endParaRPr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7" name="Google Shape;197;p27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198" name="Google Shape;198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199" name="Google Shape;199;p27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Don’t let data stand alone. Always relate it back to a story you’ve already told, in this case, Marco’s shop.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265500" y="754200"/>
            <a:ext cx="4045200" cy="36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2"/>
                </a:solidFill>
              </a:rPr>
              <a:t>More than 50 million Americans travelled abroad in 2015</a:t>
            </a:r>
            <a:endParaRPr b="0"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</a:rPr>
              <a:t>THAT’S MORE THAN THE</a:t>
            </a:r>
            <a:r>
              <a:rPr lang="en" sz="2100">
                <a:solidFill>
                  <a:schemeClr val="lt2"/>
                </a:solidFill>
              </a:rPr>
              <a:t> </a:t>
            </a:r>
            <a:r>
              <a:rPr lang="en" sz="3800">
                <a:solidFill>
                  <a:schemeClr val="lt2"/>
                </a:solidFill>
              </a:rPr>
              <a:t>POPULATION OF </a:t>
            </a:r>
            <a:endParaRPr sz="3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CALIFORNIA</a:t>
            </a:r>
            <a:r>
              <a:rPr lang="en">
                <a:solidFill>
                  <a:schemeClr val="lt2"/>
                </a:solidFill>
              </a:rPr>
              <a:t> AND</a:t>
            </a:r>
            <a:r>
              <a:rPr lang="en" sz="2500">
                <a:solidFill>
                  <a:schemeClr val="lt2"/>
                </a:solidFill>
              </a:rPr>
              <a:t> </a:t>
            </a:r>
            <a:br>
              <a:rPr lang="en" sz="2500">
                <a:solidFill>
                  <a:schemeClr val="lt2"/>
                </a:solidFill>
              </a:rPr>
            </a:br>
            <a:r>
              <a:rPr lang="en" sz="3400"/>
              <a:t>TEXAS</a:t>
            </a:r>
            <a:r>
              <a:rPr lang="en" sz="3400">
                <a:solidFill>
                  <a:schemeClr val="lt2"/>
                </a:solidFill>
              </a:rPr>
              <a:t> COMBINED</a:t>
            </a:r>
            <a:endParaRPr sz="3400">
              <a:solidFill>
                <a:schemeClr val="lt2"/>
              </a:solidFill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6259750" y="476100"/>
            <a:ext cx="2480925" cy="24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4651375" y="1297750"/>
            <a:ext cx="3031200" cy="303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209" name="Google Shape;209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210" name="Google Shape;210;p28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When a number is too large or too small to easily comprehend, clarify it with a comparison to something familiar.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12" name="Google Shape;212;p28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travel.trade.gov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8" name="Google Shape;218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4. Closing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" name="Google Shape;220;p29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Build confidence around your product or idea by including at least one of the these slides: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Milestones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 has been accomplished and what might be left to tackle?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Testimonials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Who supports your idea (or doesn’t)?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What’s next?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How can the audience get involved or find out more?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Milestones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226" name="Google Shape;226;p30"/>
          <p:cNvGraphicFramePr/>
          <p:nvPr/>
        </p:nvGraphicFramePr>
        <p:xfrm>
          <a:off x="323100" y="23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{4EB73815-2DCA-4F30-AB96-D381724C77BE}</a:tableStyleId>
              </a:tblPr>
              <a:tblGrid>
                <a:gridCol w="710225"/>
                <a:gridCol w="710225"/>
                <a:gridCol w="710225"/>
                <a:gridCol w="382850"/>
                <a:gridCol w="1037600"/>
                <a:gridCol w="710225"/>
                <a:gridCol w="710225"/>
                <a:gridCol w="710225"/>
                <a:gridCol w="710225"/>
                <a:gridCol w="710225"/>
                <a:gridCol w="710225"/>
                <a:gridCol w="710225"/>
              </a:tblGrid>
              <a:tr h="719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2014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2015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227" name="Google Shape;227;p30"/>
          <p:cNvCxnSpPr/>
          <p:nvPr/>
        </p:nvCxnSpPr>
        <p:spPr>
          <a:xfrm rot="10800000">
            <a:off x="569975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8" name="Google Shape;228;p30"/>
          <p:cNvSpPr txBox="1"/>
          <p:nvPr>
            <p:ph type="title"/>
          </p:nvPr>
        </p:nvSpPr>
        <p:spPr>
          <a:xfrm>
            <a:off x="646175" y="1235062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2014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9" name="Google Shape;229;p30"/>
          <p:cNvSpPr txBox="1"/>
          <p:nvPr>
            <p:ph idx="4294967295" type="body"/>
          </p:nvPr>
        </p:nvSpPr>
        <p:spPr>
          <a:xfrm>
            <a:off x="646175" y="1560476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Translate web pages with Chrome extension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3251009" y="3668337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August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1" name="Google Shape;231;p30"/>
          <p:cNvSpPr txBox="1"/>
          <p:nvPr>
            <p:ph idx="4294967295" type="body"/>
          </p:nvPr>
        </p:nvSpPr>
        <p:spPr>
          <a:xfrm>
            <a:off x="3251009" y="3993750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conversations through your Android watch</a:t>
            </a:r>
            <a:endParaRPr sz="1400"/>
          </a:p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5091057" y="1235062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3" name="Google Shape;233;p30"/>
          <p:cNvSpPr txBox="1"/>
          <p:nvPr>
            <p:ph idx="4294967295" type="body"/>
          </p:nvPr>
        </p:nvSpPr>
        <p:spPr>
          <a:xfrm>
            <a:off x="5091049" y="1560476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text within an app</a:t>
            </a:r>
            <a:endParaRPr sz="1400"/>
          </a:p>
        </p:txBody>
      </p:sp>
      <p:sp>
        <p:nvSpPr>
          <p:cNvPr id="234" name="Google Shape;234;p30"/>
          <p:cNvSpPr txBox="1"/>
          <p:nvPr>
            <p:ph type="title"/>
          </p:nvPr>
        </p:nvSpPr>
        <p:spPr>
          <a:xfrm>
            <a:off x="6245122" y="3668337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November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5" name="Google Shape;235;p30"/>
          <p:cNvSpPr txBox="1"/>
          <p:nvPr>
            <p:ph idx="4294967295" type="body"/>
          </p:nvPr>
        </p:nvSpPr>
        <p:spPr>
          <a:xfrm>
            <a:off x="6245125" y="3993750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Translate written text from English or German to Arabic with the click of a camera</a:t>
            </a:r>
            <a:endParaRPr sz="1400"/>
          </a:p>
        </p:txBody>
      </p:sp>
      <p:cxnSp>
        <p:nvCxnSpPr>
          <p:cNvPr id="236" name="Google Shape;236;p30"/>
          <p:cNvCxnSpPr/>
          <p:nvPr/>
        </p:nvCxnSpPr>
        <p:spPr>
          <a:xfrm>
            <a:off x="3174800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7" name="Google Shape;237;p30"/>
          <p:cNvCxnSpPr/>
          <p:nvPr/>
        </p:nvCxnSpPr>
        <p:spPr>
          <a:xfrm rot="10800000">
            <a:off x="4997750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8" name="Google Shape;238;p30"/>
          <p:cNvCxnSpPr/>
          <p:nvPr/>
        </p:nvCxnSpPr>
        <p:spPr>
          <a:xfrm>
            <a:off x="6168925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283100" y="712150"/>
            <a:ext cx="8620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people are saying</a:t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371775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3210432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6049089" y="1988900"/>
            <a:ext cx="2629500" cy="2244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612527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Translate has officially inspired me to learn French 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Abby Author</a:t>
            </a:r>
            <a:r>
              <a:rPr b="0" lang="en" sz="1400">
                <a:solidFill>
                  <a:schemeClr val="lt1"/>
                </a:solidFill>
              </a:rPr>
              <a:t>, NYC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48" name="Google Shape;248;p31"/>
          <p:cNvSpPr txBox="1"/>
          <p:nvPr>
            <p:ph type="title"/>
          </p:nvPr>
        </p:nvSpPr>
        <p:spPr>
          <a:xfrm>
            <a:off x="44797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With this app, I’m confident to plan a trip to rural Vietnam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Wendy Writer</a:t>
            </a:r>
            <a:r>
              <a:rPr b="0" lang="en" sz="1400">
                <a:solidFill>
                  <a:schemeClr val="lt1"/>
                </a:solidFill>
              </a:rPr>
              <a:t>, CA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49" name="Google Shape;249;p31"/>
          <p:cNvSpPr txBox="1"/>
          <p:nvPr>
            <p:ph type="title"/>
          </p:nvPr>
        </p:nvSpPr>
        <p:spPr>
          <a:xfrm>
            <a:off x="3286625" y="2061900"/>
            <a:ext cx="2481600" cy="20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Visual translation feels like magic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Ronny Reader</a:t>
            </a:r>
            <a:r>
              <a:rPr b="0" lang="en" sz="1400">
                <a:solidFill>
                  <a:schemeClr val="lt1"/>
                </a:solidFill>
              </a:rPr>
              <a:t>, NYC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Quotes for illustration purposes only</a:t>
            </a:r>
            <a:endParaRPr i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14093" l="2132" r="6752" t="655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a 2nd language? </a:t>
            </a:r>
            <a:br>
              <a:rPr lang="en"/>
            </a:br>
            <a:r>
              <a:rPr lang="en"/>
              <a:t>Make Google Translate  even better by joining </a:t>
            </a:r>
            <a:br>
              <a:rPr lang="en"/>
            </a:br>
            <a:r>
              <a:rPr lang="en"/>
              <a:t>the </a:t>
            </a:r>
            <a:r>
              <a:rPr lang="en">
                <a:solidFill>
                  <a:schemeClr val="accent5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community</a:t>
            </a:r>
            <a:r>
              <a:rPr lang="en"/>
              <a:t>.</a:t>
            </a:r>
            <a:endParaRPr/>
          </a:p>
        </p:txBody>
      </p:sp>
      <p:grpSp>
        <p:nvGrpSpPr>
          <p:cNvPr id="257" name="Google Shape;257;p32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258" name="Google Shape;258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259" name="Google Shape;259;p32"/>
            <p:cNvPicPr preferRelativeResize="0"/>
            <p:nvPr/>
          </p:nvPicPr>
          <p:blipFill rotWithShape="1">
            <a:blip r:embed="rId6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2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Tip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Inspire your audience to act on the information they just learned.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Depending on your idea, this can be anything from downloading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an app to joining </a:t>
              </a: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an organization.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66" name="Google Shape;266;p3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Good luck!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8" name="Google Shape;268;p33"/>
          <p:cNvSpPr txBox="1"/>
          <p:nvPr>
            <p:ph idx="4294967295" type="body"/>
          </p:nvPr>
        </p:nvSpPr>
        <p:spPr>
          <a:xfrm>
            <a:off x="2855550" y="1377478"/>
            <a:ext cx="3432900" cy="1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We hope you’ll use these tips to go out and deliver a memorable pitch for your product 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or service!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 more (free) presentation tips relevant to other types of messages, go to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heathbrothers.com/presentations</a:t>
            </a:r>
            <a:endParaRPr sz="1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Book titled, &quot;Made To Stick,&quot; standing on its side" id="269" name="Google Shape;26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6950" y="3083225"/>
            <a:ext cx="1184925" cy="15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2855550" y="3495513"/>
            <a:ext cx="21030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more about making your ideas stick with others, check out our book!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